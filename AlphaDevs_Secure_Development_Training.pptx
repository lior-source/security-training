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wasp.org/www-project-devsecops-guideline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wasp.org/Top10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spnet/core/mvc/models/validation" TargetMode="External"/><Relationship Id="rId3" Type="http://schemas.openxmlformats.org/officeDocument/2006/relationships/hyperlink" Target="https://learn.microsoft.com/en-us/aspnet/core/security/authentication/" TargetMode="External"/><Relationship Id="rId4" Type="http://schemas.openxmlformats.org/officeDocument/2006/relationships/hyperlink" Target="https://learn.microsoft.com/en-us/aspnet/core/security/enforcing-ssl" TargetMode="External"/><Relationship Id="rId5" Type="http://schemas.openxmlformats.org/officeDocument/2006/relationships/hyperlink" Target="https://learn.microsoft.com/en-us/aspnet/core/security/anti-request-forgery" TargetMode="External"/><Relationship Id="rId6" Type="http://schemas.openxmlformats.org/officeDocument/2006/relationships/hyperlink" Target="https://learn.microsoft.com/en-us/aspnet/core/fundamentals/logging" TargetMode="External"/><Relationship Id="rId7" Type="http://schemas.openxmlformats.org/officeDocument/2006/relationships/hyperlink" Target="https://learn.microsoft.com/en-us/nuget/concepts/security-best-practice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spnet/core/security/app-secrets" TargetMode="External"/><Relationship Id="rId3" Type="http://schemas.openxmlformats.org/officeDocument/2006/relationships/hyperlink" Target="https://learn.microsoft.com/en-us/azure/key-vault/general/overview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itleaks/gitleak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mgrep.dev/docs/" TargetMode="External"/><Relationship Id="rId3" Type="http://schemas.openxmlformats.org/officeDocument/2006/relationships/hyperlink" Target="https://semgrep.dev/r?lang=csharp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nyk.io/product/open-source-security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quasecurity/triv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spnet/core/security/" TargetMode="External"/><Relationship Id="rId3" Type="http://schemas.openxmlformats.org/officeDocument/2006/relationships/hyperlink" Target="https://learn.microsoft.com/en-us/dotnet/standard/security/cryptography-model" TargetMode="External"/><Relationship Id="rId4" Type="http://schemas.openxmlformats.org/officeDocument/2006/relationships/hyperlink" Target="https://learn.microsoft.com/en-us/dotnet/standard/security/secure-coding-guidelines" TargetMode="External"/><Relationship Id="rId5" Type="http://schemas.openxmlformats.org/officeDocument/2006/relationships/hyperlink" Target="https://learn.microsoft.com/en-us/nuget/concepts/security-best-practices" TargetMode="External"/><Relationship Id="rId6" Type="http://schemas.openxmlformats.org/officeDocument/2006/relationships/hyperlink" Target="https://owasp.org/Top10/" TargetMode="External"/><Relationship Id="rId7" Type="http://schemas.openxmlformats.org/officeDocument/2006/relationships/hyperlink" Target="https://cheatsheetseries.owasp.org/cheatsheets/DotNet_Security_Cheat_Sheet.html" TargetMode="External"/><Relationship Id="rId8" Type="http://schemas.openxmlformats.org/officeDocument/2006/relationships/hyperlink" Target="https://owasp.org/www-project-devsecops-guideline/" TargetMode="External"/><Relationship Id="rId9" Type="http://schemas.openxmlformats.org/officeDocument/2006/relationships/hyperlink" Target="https://owasp.org/www-project-web-security-testing-guide/" TargetMode="External"/><Relationship Id="rId10" Type="http://schemas.openxmlformats.org/officeDocument/2006/relationships/hyperlink" Target="https://github.com/gitleaks/gitleaks" TargetMode="External"/><Relationship Id="rId11" Type="http://schemas.openxmlformats.org/officeDocument/2006/relationships/hyperlink" Target="https://semgrep.dev/r?lang=csharp" TargetMode="External"/><Relationship Id="rId12" Type="http://schemas.openxmlformats.org/officeDocument/2006/relationships/hyperlink" Target="https://security.snyk.io/" TargetMode="External"/><Relationship Id="rId13" Type="http://schemas.openxmlformats.org/officeDocument/2006/relationships/hyperlink" Target="https://github.com/aquasecurity/trivy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73152" cy="3657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SECURE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6B6D4"/>
                </a:solidFill>
                <a:latin typeface="Calibri"/>
              </a:defRPr>
            </a:pPr>
            <a:r>
              <a:t>FOR .NET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 Light"/>
              </a:defRPr>
            </a:pPr>
            <a:r>
              <a:t>From Shift Left Methodology to Automated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520440"/>
            <a:ext cx="27432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Calibri Light"/>
              </a:rPr>
              <a:t>AlphaDevs Security Division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 Light"/>
              </a:rPr>
              <a:t>Hands-on Training  |  Windows &amp; .NET Focused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 Light"/>
              </a:rPr>
              <a:t>Pentagon2000 Recovery &amp; Prevention 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20040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200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400" b="1">
                <a:solidFill>
                  <a:srgbClr val="06B6D4"/>
                </a:solidFill>
                <a:latin typeface="Consolas"/>
              </a:defRPr>
            </a:pPr>
            <a:r>
              <a:t>&lt;/&gt;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0175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SHIFT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5661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SECURE BY DEFAULT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4297680"/>
            <a:ext cx="640080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3159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Git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45168" y="4297680"/>
            <a:ext cx="640080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43159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78BFA"/>
                </a:solidFill>
                <a:latin typeface="Consolas"/>
              </a:defRPr>
            </a:pPr>
            <a:r>
              <a:t>Sem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94976" y="4297680"/>
            <a:ext cx="640080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94976" y="43159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B923C"/>
                </a:solidFill>
                <a:latin typeface="Consolas"/>
              </a:defRPr>
            </a:pPr>
            <a:r>
              <a:t>Sny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44784" y="4297680"/>
            <a:ext cx="640080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44784" y="43159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Consolas"/>
              </a:defRPr>
            </a:pPr>
            <a:r>
              <a:t>Tri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Your learning path — from fundamentals to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00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PART 1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Why Secure Code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The Real Cost of Vulnerabilities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What is Shift Left?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03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Shift Left in Practice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200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691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PART 2 — THREATS &amp; DEFENSE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1945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OWASP Top 10 for .NET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974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6974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Common .NET 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2004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004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Secure Coding Patterns in C#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703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703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Secrets &amp; Credential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55448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1691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PART 3 — TOOLS &amp;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Security Scanning —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974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697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Deep Dive: Gitleaks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2004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Deep Dive: Semgrep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703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703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Deep Dive: Snyk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2062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206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Deep Dive: Trivy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7091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7091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Our Solution: SecureStack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2120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2120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Your Daily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7150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715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Resources &amp; Next Steps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Secure Code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Software vulnerabilities are the #1 entry point for cyber attacks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2860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of breaches start</a:t>
            </a:r>
            <a:br/>
            <a:r>
              <a:t>with a code vulnerability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45920"/>
            <a:ext cx="22860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$4.88M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average cost of</a:t>
            </a:r>
            <a:br/>
            <a:r>
              <a:t>a data breach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645920"/>
            <a:ext cx="22860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277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days — average time</a:t>
            </a:r>
            <a:br/>
            <a:r>
              <a:t>to detect a breach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22860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of attacks exploit</a:t>
            </a:r>
            <a:br/>
            <a:r>
              <a:t>known vulnerabilities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530352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What Happened to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77639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A cyber attack disrupted Pentagon2000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6168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Employees lost access to critical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4573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Recovery is underway — this training is part of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129783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This is NOT a personal failure — it's a process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13831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Our goal: make sure this never happens again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91840"/>
            <a:ext cx="530352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29184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What We're Going to Do About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77639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Understand HOW vulnerabilities enter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36168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Learn secure coding patterns for .NET / C#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4573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Adopt Shift Left — catch bugs before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129783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Implement automated security scanning (SecureStack)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513831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Build security into every pull request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Real Cost of Late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The later you find a bug, the more expensive it gets — exponentially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74519"/>
            <a:ext cx="3657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9019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0F1E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90195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$100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Development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587752"/>
            <a:ext cx="10972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6151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0F1E"/>
                </a:solidFill>
                <a:latin typeface="Calibri"/>
              </a:defRPr>
            </a:pPr>
            <a:r>
              <a:t>6.5x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1518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$650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0098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Testing /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300984"/>
            <a:ext cx="22860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32841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0F1E"/>
                </a:solidFill>
                <a:latin typeface="Calibri"/>
              </a:defRPr>
            </a:pPr>
            <a:r>
              <a:t>15x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32841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$1,500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14215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Staging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014215"/>
            <a:ext cx="4114800" cy="4114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041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0F1E"/>
                </a:solidFill>
                <a:latin typeface="Calibri"/>
              </a:defRPr>
            </a:pPr>
            <a:r>
              <a:t>40x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04164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$4,000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27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4727448"/>
            <a:ext cx="68580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754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0F1E"/>
                </a:solidFill>
                <a:latin typeface="Calibri"/>
              </a:defRPr>
            </a:pPr>
            <a:r>
              <a:t>100x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47548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$10,000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Post-Breach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5440680"/>
            <a:ext cx="9875520" cy="411480"/>
          </a:xfrm>
          <a:prstGeom prst="rect">
            <a:avLst/>
          </a:prstGeom>
          <a:solidFill>
            <a:srgbClr val="FF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546811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0F1E"/>
                </a:solidFill>
                <a:latin typeface="Calibri"/>
              </a:defRPr>
            </a:pPr>
            <a:r>
              <a:t>640x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13080" y="546811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$64,000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17920"/>
            <a:ext cx="1069848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Shift Left?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Moving security testing earlier in the development lifecycle — before code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Traditional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"Test at the end"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346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 Light"/>
              </a:defRPr>
            </a:pPr>
            <a:r>
              <a:t>Write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No security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74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 Light"/>
              </a:defRPr>
            </a:pPr>
            <a:r>
              <a:t>Build &amp;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4903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Hope for the best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14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 Light"/>
              </a:defRPr>
            </a:pPr>
            <a:r>
              <a:t>Security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891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 Light"/>
              </a:defRPr>
            </a:pPr>
            <a:r>
              <a:t>Expensive, weeks 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54879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7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 Light"/>
              </a:defRPr>
            </a:pPr>
            <a:r>
              <a:t>Fix found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2919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alibri Light"/>
              </a:defRPr>
            </a:pPr>
            <a:r>
              <a:t>Rework, delays, costs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Shift Left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"Catch it while you code"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34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8346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 Light"/>
              </a:defRPr>
            </a:pPr>
            <a:r>
              <a:t>Write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1089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 Light"/>
              </a:defRPr>
            </a:pPr>
            <a:r>
              <a:t>IDE security plugins 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747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474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 Light"/>
              </a:defRPr>
            </a:pPr>
            <a:r>
              <a:t>Open Pull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749039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 Light"/>
              </a:defRPr>
            </a:pPr>
            <a:r>
              <a:t>4 automated scans run instantly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11480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114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 Light"/>
              </a:defRPr>
            </a:pPr>
            <a:r>
              <a:t>Review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3891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 Light"/>
              </a:defRPr>
            </a:pPr>
            <a:r>
              <a:t>Fix before merge — minutes, not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54879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75487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 Light"/>
              </a:defRPr>
            </a:pPr>
            <a:r>
              <a:t>Deploy with confidence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029199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 Light"/>
              </a:defRPr>
            </a:pPr>
            <a:r>
              <a:t>Verified secure code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035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Further reading: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0891B2"/>
                </a:solidFill>
                <a:latin typeface="Consolas"/>
              </a:rPr>
              <a:t>https://owasp.org/www-project-devsecops-guideline/</a:t>
              <a:hlinkClick r:id="rId2"/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Shift Left in Your .NET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How security integrates into your daily Visual Studio / Git / Azure DevOps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Calibri"/>
              </a:defRPr>
            </a:pPr>
            <a:r>
              <a:t>Code in 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Write C# in</a:t>
            </a:r>
            <a:br/>
            <a:r>
              <a:t>Visual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286000"/>
            <a:ext cx="18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828800"/>
            <a:ext cx="18288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0116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Calibri"/>
              </a:defRPr>
            </a:pPr>
            <a:r>
              <a:t>git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688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Local commit</a:t>
            </a:r>
            <a:br/>
            <a:r>
              <a:t>to your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286000"/>
            <a:ext cx="18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82880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2880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0116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Push /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4688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Open a Pull</a:t>
            </a:r>
            <a:br/>
            <a:r>
              <a:t>Request on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286000"/>
            <a:ext cx="18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82880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18288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0116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Auto 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4688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4 security tools</a:t>
            </a:r>
            <a:br/>
            <a:r>
              <a:t>run automatically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286000"/>
            <a:ext cx="18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1828800"/>
            <a:ext cx="1828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1828800"/>
            <a:ext cx="18288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0116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4688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Fix any findings</a:t>
            </a:r>
            <a:br/>
            <a:r>
              <a:t>before 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6576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gets checked at each stage: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114800"/>
            <a:ext cx="320040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114800"/>
            <a:ext cx="3200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While You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8006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IntelliSense warns about insecure patterns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093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Roslyn analyzers flag issues in real-time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38581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Security-focused NuGet packages available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114800"/>
            <a:ext cx="320040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411480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3434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On Pull Request (Automated)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8006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Gitleaks — scans for leaked secrets &amp; API keys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093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Semgrep — finds insecure code patterns in C#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38581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Snyk — checks NuGet dependencies for CVEs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67842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Trivy — scans Docker images &amp; IaC files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411480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411480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343400"/>
            <a:ext cx="3108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Before Merge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800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All 4 checks must pass — PR blocked if not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09320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Team reviews security findings together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38581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Fix, learn, improve — every PR makes you better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OWASP Top 10 for .NET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The most critical web application security risks — and how they apply to your C# / ASP.NET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A01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Broken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9659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Missing [Authorize], IDOR via direct object refs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A02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42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Cryptographic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803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Weak hashing, plaintext secrets in appsettings.json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564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onsolas"/>
              </a:defRPr>
            </a:pPr>
            <a:r>
              <a:t>A03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4564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947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SQL injection via string concat, LDAP injection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708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onsolas"/>
              </a:defRPr>
            </a:pPr>
            <a:r>
              <a:t>A04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3708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Insecure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7091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Missing rate limits, no input validation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120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1208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852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onsolas"/>
              </a:defRPr>
            </a:pPr>
            <a:r>
              <a:t>A05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2852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Security Misconfiguration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6235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Debug mode in prod, default passwords, open CORS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5544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1554480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16276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onsolas"/>
              </a:defRPr>
            </a:pPr>
            <a:r>
              <a:t>A06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16276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Vulnerable Components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19659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Outdated NuGet packages with known CVEs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4688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468880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25420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onsolas"/>
              </a:defRPr>
            </a:pPr>
            <a:r>
              <a:t>A07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542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Auth Failures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8803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Weak passwords, missing MFA, session fixation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3832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383280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4564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onsolas"/>
              </a:defRPr>
            </a:pPr>
            <a:r>
              <a:t>A08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34564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Integrity Failures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37947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Insecure deserialization (BinaryFormatter!)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2976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29768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43708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A09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43708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Logging Failures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47091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No audit trail, logging sensitive data (PII)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212080"/>
            <a:ext cx="53035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521208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528523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A10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52852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SSRF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56235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Unvalidated URLs in HttpClient requests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126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 Light"/>
              </a:defRPr>
            </a:pPr>
            <a:r>
              <a:t>Full reference: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0891B2"/>
                </a:solidFill>
                <a:latin typeface="Consolas"/>
              </a:rPr>
              <a:t>https://owasp.org/Top10/</a:t>
              <a:hlinkClick r:id="rId2"/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.NET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Real code patterns you might write — and why they're dangerous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SQL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916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DANGEROUS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4937760" cy="77724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103120"/>
            <a:ext cx="54864" cy="777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79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var query = $"SELECT * FROM Users</a:t>
            </a:r>
            <a:br/>
            <a:r>
              <a:t>  WHERE Name = '{input}'";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 Light"/>
              </a:defRPr>
            </a:pPr>
            <a:r>
              <a:t>An attacker can inject: ' OR 1=1 --</a:t>
            </a:r>
            <a:br/>
            <a:r>
              <a:t>This returns ALL users from the database.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5303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Parameterized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6916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SAFE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103120"/>
            <a:ext cx="4937760" cy="8686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2103120"/>
            <a:ext cx="54864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240279"/>
            <a:ext cx="457200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var cmd = new SqlCommand(</a:t>
            </a:r>
            <a:br/>
            <a:r>
              <a:t>  "SELECT * FROM Users WHERE Name = @n");</a:t>
            </a:r>
            <a:br/>
            <a:r>
              <a:t>cmd.Parameters.AddWithValue("@n", input);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08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 Light"/>
              </a:defRPr>
            </a:pPr>
            <a:r>
              <a:t>Parameters are escaped automatically.</a:t>
            </a:r>
            <a:br/>
            <a:r>
              <a:t>The DB treats input as data, never as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5303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Hardcoded Secrets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0690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DANGEROUS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480560"/>
            <a:ext cx="4937760" cy="6858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480560"/>
            <a:ext cx="54864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6177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var connectionString =</a:t>
            </a:r>
            <a:br/>
            <a:r>
              <a:t>  "Server=db;Password=P@ssw0rd123!";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 Light"/>
              </a:defRPr>
            </a:pPr>
            <a:r>
              <a:t>Anyone with repo access sees the password.</a:t>
            </a:r>
            <a:br/>
            <a:r>
              <a:t>If leaked to GitHub — game over.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5303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93192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Secrets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0690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SAFE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480560"/>
            <a:ext cx="4937760" cy="8229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4480560"/>
            <a:ext cx="54864" cy="8229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46177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var connStr = Configuration</a:t>
            </a:r>
            <a:br/>
            <a:r>
              <a:t>  .GetConnectionString("DefaultConnection");</a:t>
            </a:r>
            <a:br/>
            <a:r>
              <a:t>// Stored in Azure Key Vault / User Secrets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4406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 Light"/>
              </a:defRPr>
            </a:pPr>
            <a:r>
              <a:t>Secrets stored securely outside source code.</a:t>
            </a:r>
            <a:br/>
            <a:r>
              <a:t>Rotated without code changes.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Secure Coding Patterns in C#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Practical patterns you can apply today in your Visual Studio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7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846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Always validate &amp; sanitize user input. Use Data Annotations:</a:t>
            </a:r>
            <a:br/>
            <a:r>
              <a:t>[Required], [StringLength], [RegularExpression].</a:t>
            </a:r>
            <a:br/>
            <a:r>
              <a:t>Never trust client-side validation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Microsoft Docs →</a:t>
              <a:hlinkClick r:id="rId2"/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Authentication &amp; Authorization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4846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Use ASP.NET Identity with [Authorize] attributes.</a:t>
            </a:r>
            <a:br/>
            <a:r>
              <a:t>Enforce MFA. Never roll your own auth.</a:t>
            </a:r>
            <a:br/>
            <a:r>
              <a:t>Use policies: [Authorize(Policy = "Admin")]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Microsoft Docs →</a:t>
              <a:hlinkClick r:id="rId3"/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5604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HTTPS &amp; Transport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4846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Force HTTPS: app.UseHttpsRedirection().</a:t>
            </a:r>
            <a:br/>
            <a:r>
              <a:t>Set HSTS headers. Configure TLS 1.2+ only.</a:t>
            </a:r>
            <a:br/>
            <a:r>
              <a:t>Never send sensitive data over HTTP.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989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Microsoft Docs →</a:t>
              <a:hlinkClick r:id="rId4"/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55448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554480"/>
            <a:ext cx="54864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1664207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Anti-Forgery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011680"/>
            <a:ext cx="4846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Protect forms against CSRF attacks:</a:t>
            </a:r>
            <a:br/>
            <a:r>
              <a:t>[ValidateAntiForgeryToken] on all POST actions.</a:t>
            </a:r>
            <a:br/>
            <a:r>
              <a:t>Include @Html.AntiForgeryToken() in Razor views.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2697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Microsoft Docs →</a:t>
              <a:hlinkClick r:id="rId5"/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20040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200400"/>
            <a:ext cx="54864" cy="14630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33101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Calibri"/>
              </a:defRPr>
            </a:pPr>
            <a:r>
              <a:t>Secure 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3657600"/>
            <a:ext cx="4846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Never log passwords, tokens, or PII.</a:t>
            </a:r>
            <a:br/>
            <a:r>
              <a:t>Use structured logging (Serilog / NLog).</a:t>
            </a:r>
            <a:br/>
            <a:r>
              <a:t>Mask sensitive fields: email → e***@domain.com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Microsoft Docs →</a:t>
              <a:hlinkClick r:id="rId6"/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84632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4846320"/>
            <a:ext cx="54864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59" y="495604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Dependency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5303520"/>
            <a:ext cx="4846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Keep NuGet packages updated.</a:t>
            </a:r>
            <a:br/>
            <a:r>
              <a:t>Run dotnet list package --vulnerable regularly.</a:t>
            </a:r>
            <a:br/>
            <a:r>
              <a:t>Remove unused packages to reduce attack surface.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5989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Microsoft Docs →</a:t>
              <a:hlinkClick r:id="rId7"/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Secrets &amp; Credential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How to handle API keys, passwords, and connection strings in .NET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NEVER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✗  Hardcode secrets in appsettings.json (committed to Git)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786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✗  Store passwords in source code or comments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6265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✗  Share API keys in Slack, email, or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46704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✗  Use the same password across environments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3075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✗  Commit .env files to version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53035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ALWAYS Do 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945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✓  Use dotnet user-secrets for local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786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✓  Use Azure Key Vault for production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6265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✓  Add secrets to .gitignore before first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46704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✓  Rotate credentials every 90 days minimum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3075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✓  Use managed identities when possible (no passwords!)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Your .gitignore must include: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29200"/>
            <a:ext cx="5303520" cy="10972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029200"/>
            <a:ext cx="54864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# Secrets</a:t>
            </a:r>
            <a:br/>
            <a:r>
              <a:t>appsettings.Development.json</a:t>
            </a:r>
            <a:br/>
            <a:r>
              <a:t>*.pfx</a:t>
            </a:r>
            <a:br/>
            <a:r>
              <a:t>.env</a:t>
            </a:r>
            <a:br/>
            <a:r>
              <a:t>*.key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Resources: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029200"/>
            <a:ext cx="53035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502920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1206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Secrets in .NET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4681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06B6D4"/>
                </a:solidFill>
                <a:latin typeface="Consolas"/>
              </a:rPr>
              <a:t>https://learn.microsoft.com/en-us/aspnet/core/security/app-secrets</a:t>
              <a:hlinkClick r:id="rId2"/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43600"/>
            <a:ext cx="53035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94360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60350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Azure Key Vault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6382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10B981"/>
                </a:solidFill>
                <a:latin typeface="Consolas"/>
              </a:rPr>
              <a:t>https://learn.microsoft.com/en-us/azure/key-vault/general/overview</a:t>
              <a:hlinkClick r:id="rId3"/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Scanning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Four types of automated security checks that protect your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10B981"/>
                </a:solidFill>
                <a:latin typeface="Calibri"/>
              </a:defRPr>
            </a:pPr>
            <a:r>
              <a:t>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Secret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880360"/>
            <a:ext cx="187451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986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Gitleaks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Scans every commit for leaked</a:t>
            </a:r>
            <a:br/>
            <a:r>
              <a:t>passwords, API keys, tokens,</a:t>
            </a:r>
            <a:br/>
            <a:r>
              <a:t>connection strings, private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663440"/>
            <a:ext cx="23317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Catches: AWS keys, DB passwords,</a:t>
            </a:r>
            <a:br/>
            <a:r>
              <a:t>JWT secrets, Azure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645920"/>
            <a:ext cx="26060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1645920"/>
            <a:ext cx="260604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8288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A78BFA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4688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Static Analysis (SAST)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880360"/>
            <a:ext cx="187451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8986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Semgrep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38328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Reads your code without running it.</a:t>
            </a:r>
            <a:br/>
            <a:r>
              <a:t>Finds insecure patterns, bugs,</a:t>
            </a:r>
            <a:br/>
            <a:r>
              <a:t>and anti-patterns in C# / .NET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4663440"/>
            <a:ext cx="23317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48006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Catches: SQL injection, XSS,</a:t>
            </a:r>
            <a:br/>
            <a:r>
              <a:t>insecure deserialization, auth gaps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45920"/>
            <a:ext cx="26060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645920"/>
            <a:ext cx="260604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FB923C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4688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Dependency Scanning (SCA)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880360"/>
            <a:ext cx="187451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8986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  <a:latin typeface="Consolas"/>
              </a:defRPr>
            </a:pPr>
            <a:r>
              <a:t>Snyk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8328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Checks every NuGet package</a:t>
            </a:r>
            <a:br/>
            <a:r>
              <a:t>against vulnerability databases.</a:t>
            </a:r>
            <a:br/>
            <a:r>
              <a:t>Flags outdated or risky dependencies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663440"/>
            <a:ext cx="23317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8006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Catches: Known CVEs, license</a:t>
            </a:r>
            <a:br/>
            <a:r>
              <a:t>issues, transitive vulnerabilities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645920"/>
            <a:ext cx="260604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1645920"/>
            <a:ext cx="26060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8288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06B6D4"/>
                </a:solidFill>
                <a:latin typeface="Calibri"/>
              </a:defRPr>
            </a:pPr>
            <a:r>
              <a:t>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4688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Container &amp; IaC Scanning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2880360"/>
            <a:ext cx="1874519" cy="320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28986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onsolas"/>
              </a:defRPr>
            </a:pPr>
            <a:r>
              <a:t>Trivy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38328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Scans Docker images and</a:t>
            </a:r>
            <a:br/>
            <a:r>
              <a:t>infrastructure-as-code files</a:t>
            </a:r>
            <a:br/>
            <a:r>
              <a:t>for misconfigurations &amp; CVEs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4663440"/>
            <a:ext cx="23317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48006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Catches: OS vulnerabilities,</a:t>
            </a:r>
            <a:br/>
            <a:r>
              <a:t>Docker misconfig, Terraform issues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Deep Dive: Gitleaks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Secret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Automatically finds leaked secrets in your Git history and code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303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What Gitleaks Detects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API keys (Azure, AWS, Google Cloud, SendGrid...)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4203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Database connection strings with passwords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89504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Private keys (RSA, SSH, PGP)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36976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JWT tokens and bearer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8444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Passwords in configuration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303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5303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Uses 150+ regex patterns to match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4203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Scans entire Git history (not just latest code)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89504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Runs in CI/CD pipeline on every Pull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36976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Blocks merge if secrets are found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8444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Can also run locally: gitleaks 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Example: Gitleaks found a secret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09160"/>
            <a:ext cx="5303520" cy="15087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709160"/>
            <a:ext cx="54864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493775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Finding: Azure Storage Account Key</a:t>
            </a:r>
            <a:br/>
            <a:r>
              <a:t>Secret:  DefaultEndpointsProtocol=https;</a:t>
            </a:r>
            <a:br/>
            <a:r>
              <a:t>         AccountKey=wJalrXUtnFE...</a:t>
            </a:r>
            <a:br/>
            <a:r>
              <a:t>File:    src/appsettings.json</a:t>
            </a:r>
            <a:br/>
            <a:r>
              <a:t>Commit:  a3f2b1c</a:t>
            </a:r>
            <a:br/>
            <a:r>
              <a:t>Author:  dev@pentagon2000.com</a:t>
            </a:r>
            <a:br/>
            <a:r>
              <a:t>Rule:    azure-storage-key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297680"/>
            <a:ext cx="530352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297680"/>
            <a:ext cx="530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4348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If Gitleaks Blocks Your PR: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93776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1. Remove the secret from your code immediately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1937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2. Move it to User Secrets or Azure Key Vault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449824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3. Rotate the exposed credential (it's compromised!)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705856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4. Add file to .gitignore to prevent future leaks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96188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5. Push fix — Gitleaks will re-scan automatically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3093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https://github.com/gitleaks/gitleaks</a:t>
              <a:hlinkClick r:id="rId2"/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Deep Dive: Semgrep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Static Analysis (SAST)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Finds insecure code patterns in C# without running your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3035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3035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What Semgrep Catches in C#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SQL injection via string concatenation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78024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Cross-Site Scripting (XSS) in Razor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0720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Insecure deserialization (BinaryFormatter)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3639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Missing authorization attributes on 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65576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Use of deprecated / insecure crypto (MD5, SHA1)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3035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5303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Why Semgrep (vs. Built-in Analyzers)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488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1,500+ security rules out of the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78024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Understands code semantics (not just regex)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0720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Custom rules for your codebase standards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3639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Works across C#, JavaScript, Python, and more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65576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→  Results directly in Pull Request comments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Example: Semgrep detects insecure deserialization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onsolas"/>
              </a:defRPr>
            </a:pPr>
            <a:r>
              <a:t>DANGEROUS — BinaryFormatter (CVE-prone)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5303520" cy="77724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800600"/>
            <a:ext cx="54864" cy="777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49377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var formatter = new BinaryFormatter();</a:t>
            </a:r>
            <a:br/>
            <a:r>
              <a:t>var obj = formatter.Deserialize(stream);</a:t>
            </a:r>
            <a:br/>
            <a:r>
              <a:t>// Remote Code Execution risk!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805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SAFE — System.Text.Json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800600"/>
            <a:ext cx="5303520" cy="77724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800600"/>
            <a:ext cx="54864" cy="777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937760"/>
            <a:ext cx="49377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var obj = JsonSerializer.Deserialize&lt;MyType&gt;(</a:t>
            </a:r>
            <a:br/>
            <a:r>
              <a:t>    jsonString,</a:t>
            </a:r>
            <a:br/>
            <a:r>
              <a:t>    new JsonSerializerOptions { ... });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52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https://semgrep.dev/docs/</a:t>
              <a:hlinkClick r:id="rId2"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80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C# Rules: https://semgrep.dev/r?lang=csharp</a:t>
              <a:hlinkClick r:id="rId3"/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Deep Dive: Snyk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FB923C"/>
                </a:solidFill>
                <a:latin typeface="Consolas"/>
              </a:defRPr>
            </a:pPr>
            <a:r>
              <a:t>Dependency Scanning (SCA)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Scans your NuGet packages for known vulnerabilities (CVEs)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9728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Why Dependencies Are Your Biggest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A typical .NET project uses 50-200 NuGet packages. Each package has its own dependencies (transitive deps).</a:t>
            </a:r>
            <a:br/>
            <a:r>
              <a:t>You might write 10,000 lines of code — but run 500,000 lines from third-party packages.</a:t>
            </a:r>
            <a:br/>
            <a:r>
              <a:t>If ANY of those packages has a vulnerability, your application is vulnerable.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303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3035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What Snyk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Reads your .csproj and packages.lock.json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Checks NuGet packages against CVE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6052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Finds transitive (indirect) vulnerabilities too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348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Suggests exact upgrade version to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0916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Monitors continuously — alerts on new CVEs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5303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01752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154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Real Example: Critical CVE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566160"/>
            <a:ext cx="4937760" cy="13716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566160"/>
            <a:ext cx="54864" cy="1371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70332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Package:  Newtonsoft.Json 12.0.1</a:t>
            </a:r>
            <a:br/>
            <a:r>
              <a:t>Severity: HIGH</a:t>
            </a:r>
            <a:br/>
            <a:r>
              <a:t>CVE:      CVE-2024-XXXX</a:t>
            </a:r>
            <a:br/>
            <a:r>
              <a:t>Impact:   Denial of Service via</a:t>
            </a:r>
            <a:br/>
            <a:r>
              <a:t>          crafted JSON payload</a:t>
            </a:r>
            <a:br/>
            <a:r>
              <a:t>Fix:      Upgrade to 13.0.3+</a:t>
            </a:r>
            <a:br/>
            <a:r>
              <a:t>Command:  dotnet add package</a:t>
            </a:r>
            <a:br/>
            <a:r>
              <a:t>          Newtonsoft.Json --version 13.0.3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You can also check locally: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6400800" cy="54864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623560"/>
            <a:ext cx="54864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6072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dotnet list package --vulnerable --include-transitive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760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https://snyk.io/product/open-source-security/</a:t>
              <a:hlinkClick r:id="rId2"/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Deep Dive: Trivy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Container &amp; IaC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Scans Docker images and infrastructure files for vulnerabilities and misconfigurations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30352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303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What Trivy Scans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Docker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94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OS packages (apt, apk) inside containers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334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Dockerfiles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334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Misconfigs: running as root, no health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7238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IaC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723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Terraform, CloudFormation, Kubernetes YAMLs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1129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File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1129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Local directories for vulnerabilities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502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.NET Binaries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502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Compiled DLLs for known vulnerable versions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54480"/>
            <a:ext cx="530352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554480"/>
            <a:ext cx="530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Why This Matters for .NET on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488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Even if YOUR code is secure, the base 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404872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image might have 50+ vulnerabilities.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660904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858000" y="2916936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If you deploy to Docker or Kubernetes: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72968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Trivy checks the entire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42900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OS + runtime + your app = all scanned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685032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858000" y="3941064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If you use IaC (Terraform, ARM templates):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97096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Trivy catches misconfigurations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53128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→  Open ports, missing encryption, etc.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805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Example: Trivy scan on a .NET Docker image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92040"/>
            <a:ext cx="10698480" cy="123444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892040"/>
            <a:ext cx="54864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029200"/>
            <a:ext cx="103327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$ trivy image myapp:latest</a:t>
            </a:r>
            <a:br/>
            <a:r>
              <a:t>Total: 12 (HIGH: 3, CRITICAL: 1)</a:t>
            </a:r>
            <a:br/>
            <a:br/>
            <a:r>
              <a:t>CRITICAL  CVE-2024-1234  libssl3     3.0.2-0ubuntu1.12  → 3.0.2-0ubuntu1.15</a:t>
            </a:r>
            <a:br/>
            <a:r>
              <a:t>HIGH      CVE-2024-5678  dotnet-sdk  8.0.100            → 8.0.204</a:t>
            </a:r>
            <a:br/>
            <a:r>
              <a:t>HIGH      CVE-2024-9012  curl        7.81.0             → 7.81.0-1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2179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0891B2"/>
                </a:solidFill>
                <a:latin typeface="Consolas"/>
              </a:rPr>
              <a:t>https://github.com/aquasecurity/trivy</a:t>
              <a:hlinkClick r:id="rId2"/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Solution: SecureStack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by AlphaDevs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All 4 tools combined into one automated security pipeline — runs on every Pull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SecureStack Pipeline — What Happens When You Open a PR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6517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onsolas"/>
              </a:defRPr>
            </a:pPr>
            <a:r>
              <a:t>Gitleaks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Secret</a:t>
            </a:r>
            <a:br/>
            <a:r>
              <a:t>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611880"/>
            <a:ext cx="210312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Scans for leaked</a:t>
            </a:r>
            <a:br/>
            <a:r>
              <a:t>credentials in code</a:t>
            </a:r>
            <a:br/>
            <a:r>
              <a:t>and Git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301752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2286000"/>
            <a:ext cx="26517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2286000"/>
            <a:ext cx="26517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4688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Consolas"/>
              </a:defRPr>
            </a:pPr>
            <a:r>
              <a:t>Semgrep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7180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Static</a:t>
            </a:r>
            <a:br/>
            <a:r>
              <a:t>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3611880"/>
            <a:ext cx="210312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39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Finds insecure code</a:t>
            </a:r>
            <a:br/>
            <a:r>
              <a:t>patterns in your</a:t>
            </a:r>
            <a:br/>
            <a:r>
              <a:t>C# source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301752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286000"/>
            <a:ext cx="26517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2286000"/>
            <a:ext cx="265176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4688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  <a:latin typeface="Consolas"/>
              </a:defRPr>
            </a:pPr>
            <a:r>
              <a:t>Snyk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7180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Dependency</a:t>
            </a:r>
            <a:br/>
            <a:r>
              <a:t>Scanning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59" y="3611880"/>
            <a:ext cx="210312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749039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Checks NuGet packages</a:t>
            </a:r>
            <a:br/>
            <a:r>
              <a:t>for known CVEs</a:t>
            </a:r>
            <a:br/>
            <a:r>
              <a:t>and vulnerabilities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301752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2286000"/>
            <a:ext cx="26517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72600" y="2286000"/>
            <a:ext cx="2651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4688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Consolas"/>
              </a:defRPr>
            </a:pPr>
            <a:r>
              <a:t>Trivy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97180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Container</a:t>
            </a:r>
            <a:br/>
            <a:r>
              <a:t>Scanning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46920" y="3611880"/>
            <a:ext cx="210312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3749039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Scans Docker images</a:t>
            </a:r>
            <a:br/>
            <a:r>
              <a:t>and IaC for</a:t>
            </a:r>
            <a:br/>
            <a:r>
              <a:t>misconfigurations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394960"/>
            <a:ext cx="106984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532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ALL PASS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532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 can be merged. Code is verified secure.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532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532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ANY FAIL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532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"/>
              </a:defRPr>
            </a:pPr>
            <a:r>
              <a:t>PR blocked until issues are fixed.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SecureStack — Automated Security for Every PR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SecureStack — Real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What we found when we ran SecureStack on a real client codebase for the first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2860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security issues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45920"/>
            <a:ext cx="22860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11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total scan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645920"/>
            <a:ext cx="22860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tools ran in 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22860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false positives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685800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6858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What Was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40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onsolas"/>
              </a:defRPr>
            </a:pPr>
            <a:r>
              <a:t>Gitleaks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840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3 hardcoded API keys, 1 DB connection 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434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onsolas"/>
              </a:defRPr>
            </a:pPr>
            <a:r>
              <a:t>Semgrep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343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5 SQL injection patterns, 2 XSS 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463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onsolas"/>
              </a:defRPr>
            </a:pPr>
            <a:r>
              <a:t>Snyk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46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8 NuGet packages with known CVEs (3 critical)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492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onsolas"/>
              </a:defRPr>
            </a:pPr>
            <a:r>
              <a:t>Trivy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3492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4 Docker image vulnerabilities (1 critical)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40680"/>
            <a:ext cx="6858000" cy="5486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864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 Light"/>
              </a:defRPr>
            </a:pPr>
            <a:r>
              <a:t>All 23 issues were fixed within 48 hours. Without SecureStack, they could have stayed hidden for months.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200400"/>
            <a:ext cx="34747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2004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4048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These weren't mistakes by bad developers.</a:t>
            </a:r>
            <a:br/>
            <a:br/>
            <a:r>
              <a:t>They were normal code patterns that nobody checked.</a:t>
            </a:r>
            <a:br/>
            <a:br/>
            <a:r>
              <a:t>SecureStack makes the check automatic.</a:t>
            </a:r>
            <a:br/>
            <a:br/>
            <a:r>
              <a:t>Every PR. Every time.</a:t>
            </a:r>
            <a:br/>
            <a:r>
              <a:t>No exceptions.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Daily Workflow with SecureStack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Nothing changes in how you code — security runs automatically in the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91639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Write code as usual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03120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Work in Visual Studio, write C#, build features.</a:t>
            </a:r>
            <a:br/>
            <a:r>
              <a:t>Nothing different from what you do today.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4864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37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Commit and push your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git add, git commit, git push — standard flow.</a:t>
            </a:r>
            <a:br/>
            <a:r>
              <a:t>No extra commands or tools to install.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834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Open a Pull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394959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Create your PR on GitHub as always.</a:t>
            </a:r>
            <a:br/>
            <a:r>
              <a:t>SecureStack triggers automatically — zero setup.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55448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55448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69163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1691639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Review scan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2103120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Check the PR status checks. Green = all clear.</a:t>
            </a:r>
            <a:br/>
            <a:r>
              <a:t>Red = click to see exactly what needs fixing.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20040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200400"/>
            <a:ext cx="54864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3375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3337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Fix any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79" y="3749039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Follow the specific guidance in each finding.</a:t>
            </a:r>
            <a:br/>
            <a:r>
              <a:t>Push the fix — scans re-run automatically.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846320"/>
            <a:ext cx="53949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4846320"/>
            <a:ext cx="54864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9834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79" y="49834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Merge with 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79" y="5394959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Once all checks pass, merge your PR.</a:t>
            </a:r>
            <a:br/>
            <a:r>
              <a:t>Your code is now verified secure.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Resources &amp;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Links to deepen your knowledge — bookmark these and explore at your own 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.NET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ASP.NET Core Security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06B6D4"/>
                </a:solidFill>
                <a:latin typeface="Consolas"/>
              </a:rPr>
              <a:t>https://learn.microsoft.com/en-us/aspnet/core/security/</a:t>
              <a:hlinkClick r:id="rId2"/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00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.NET Cryptography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47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06B6D4"/>
                </a:solidFill>
                <a:latin typeface="Consolas"/>
              </a:rPr>
              <a:t>https://learn.microsoft.com/en-us/dotnet/standard/security/cryptography-model</a:t>
              <a:hlinkClick r:id="rId3"/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6908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60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Secure Coding in C#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07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06B6D4"/>
                </a:solidFill>
                <a:latin typeface="Consolas"/>
              </a:rPr>
              <a:t>https://learn.microsoft.com/en-us/dotnet/standard/security/secure-coding-guidelines</a:t>
              <a:hlinkClick r:id="rId4"/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NuGet Security Best Practices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468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06B6D4"/>
                </a:solidFill>
                <a:latin typeface="Consolas"/>
              </a:rPr>
              <a:t>https://learn.microsoft.com/en-us/nuget/concepts/security-best-practices</a:t>
              <a:hlinkClick r:id="rId5"/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15544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6916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OWASP &amp; Methodology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14884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214884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2240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OWASP Top 10 (2021)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5877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F59E0B"/>
                </a:solidFill>
                <a:latin typeface="Consolas"/>
              </a:rPr>
              <a:t>https://owasp.org/Top10/</a:t>
              <a:hlinkClick r:id="rId6"/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10896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310896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3200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OWASP .NET Security Cheat Sheet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3547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F59E0B"/>
                </a:solidFill>
                <a:latin typeface="Consolas"/>
              </a:rPr>
              <a:t>https://cheatsheetseries.owasp.org/cheatsheets/DotNet_Security_Cheat_Sheet.html</a:t>
              <a:hlinkClick r:id="rId7"/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06908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60" y="406908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4160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DevSecOps Guideline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507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F59E0B"/>
                </a:solidFill>
                <a:latin typeface="Consolas"/>
              </a:rPr>
              <a:t>https://owasp.org/www-project-devsecops-guideline/</a:t>
              <a:hlinkClick r:id="rId8"/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502920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60" y="502920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51206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OWASP Testing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5468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F59E0B"/>
                </a:solidFill>
                <a:latin typeface="Consolas"/>
              </a:rPr>
              <a:t>https://owasp.org/www-project-web-security-testing-guide/</a:t>
              <a:hlinkClick r:id="rId9"/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55448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Security Tools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14884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214884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2240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Gitleaks — Secret Detection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25877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10B981"/>
                </a:solidFill>
                <a:latin typeface="Consolas"/>
              </a:rPr>
              <a:t>https://github.com/gitleaks/gitleaks</a:t>
              <a:hlinkClick r:id="rId10"/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10896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310896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3200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Semgrep — C# Rules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547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10B981"/>
                </a:solidFill>
                <a:latin typeface="Consolas"/>
              </a:rPr>
              <a:t>https://semgrep.dev/r?lang=csharp</a:t>
              <a:hlinkClick r:id="rId11"/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406908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406908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4160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Snyk — Vulnerability 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4507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10B981"/>
                </a:solidFill>
                <a:latin typeface="Consolas"/>
              </a:rPr>
              <a:t>https://security.snyk.io/</a:t>
              <a:hlinkClick r:id="rId12"/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502920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29600" y="502920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51206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Trivy — Container Scanner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5468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10B981"/>
                </a:solidFill>
                <a:latin typeface="Consolas"/>
              </a:rPr>
              <a:t>https://github.com/aquasecurity/trivy</a:t>
              <a:hlinkClick r:id="rId13"/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3152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YOU LEARNED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Calibri"/>
              </a:defRPr>
            </a:pPr>
            <a:r>
              <a:t>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377440"/>
            <a:ext cx="27432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Shift Left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651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Find security issues while you code — not after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4 Automated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46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Gitleaks + Semgrep + Snyk + Trivy = comprehensive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SecureStack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40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All 4 tools run automatically on every Pull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Your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434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Write secure C# patterns, review scan results, fix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Zero Extra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029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The pipeline does the heavy lifting — you just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651760"/>
            <a:ext cx="457200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2651760"/>
            <a:ext cx="4572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7889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461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1. Review the resources &amp; links in this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63016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2. Check your current project for obvious 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14215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3. Open a PR — see SecureStack in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39826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4. Fix your first security finding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78231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5. Share what you learned with the team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Security is not a phase. It's a mindset. And now it's automated.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 Light"/>
              </a:defRPr>
            </a:pPr>
            <a:r>
              <a:t>AlphaDevs | Secure Development Training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